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60" r:id="rId4"/>
    <p:sldId id="274" r:id="rId5"/>
    <p:sldId id="264" r:id="rId6"/>
    <p:sldId id="262" r:id="rId7"/>
    <p:sldId id="275" r:id="rId8"/>
    <p:sldId id="266" r:id="rId9"/>
    <p:sldId id="277" r:id="rId10"/>
    <p:sldId id="276" r:id="rId11"/>
    <p:sldId id="26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034F57BC-7847-4248-9D1B-6CA0520DBCA0}"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07C6EF-C93F-43B7-A547-902BA3C9AC74}"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034F57BC-7847-4248-9D1B-6CA0520DBCA0}"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07C6EF-C93F-43B7-A547-902BA3C9AC74}"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034F57BC-7847-4248-9D1B-6CA0520DBCA0}"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07C6EF-C93F-43B7-A547-902BA3C9AC74}"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034F57BC-7847-4248-9D1B-6CA0520DBCA0}"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307C6EF-C93F-43B7-A547-902BA3C9AC74}"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034F57BC-7847-4248-9D1B-6CA0520DBCA0}"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307C6EF-C93F-43B7-A547-902BA3C9AC74}"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034F57BC-7847-4248-9D1B-6CA0520DBCA0}"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307C6EF-C93F-43B7-A547-902BA3C9AC74}"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4F57BC-7847-4248-9D1B-6CA0520DBCA0}"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307C6EF-C93F-43B7-A547-902BA3C9AC74}"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034F57BC-7847-4248-9D1B-6CA0520DBCA0}"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307C6EF-C93F-43B7-A547-902BA3C9AC74}"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034F57BC-7847-4248-9D1B-6CA0520DBCA0}"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307C6EF-C93F-43B7-A547-902BA3C9AC74}"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034F57BC-7847-4248-9D1B-6CA0520DBCA0}"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07C6EF-C93F-43B7-A547-902BA3C9AC74}"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034F57BC-7847-4248-9D1B-6CA0520DBCA0}"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07C6EF-C93F-43B7-A547-902BA3C9AC74}"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4F57BC-7847-4248-9D1B-6CA0520DBCA0}"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07C6EF-C93F-43B7-A547-902BA3C9AC74}"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3561" y="599612"/>
            <a:ext cx="10663663" cy="1325563"/>
          </a:xfrm>
        </p:spPr>
        <p:txBody>
          <a:bodyPr>
            <a:normAutofit fontScale="90000"/>
          </a:bodyPr>
          <a:lstStyle/>
          <a:p>
            <a:pPr algn="ctr"/>
            <a:r>
              <a:rPr lang="en-IN" b="1" dirty="0">
                <a:latin typeface="Times New Roman" panose="02020603050405020304" pitchFamily="18" charset="0"/>
                <a:cs typeface="Times New Roman" panose="02020603050405020304" pitchFamily="18" charset="0"/>
              </a:rPr>
              <a:t>   Fraud Cash Detection using </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Image Processing</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2241088"/>
            <a:ext cx="10515600" cy="4017300"/>
          </a:xfrm>
        </p:spPr>
        <p:txBody>
          <a:bodyPr>
            <a:normAutofit/>
          </a:bodyPr>
          <a:lstStyle/>
          <a:p>
            <a:pPr marL="0" indent="0" algn="ctr">
              <a:buNone/>
            </a:pPr>
            <a:r>
              <a:rPr lang="en-US" b="1" u="sng" dirty="0">
                <a:latin typeface="Times New Roman" panose="02020603050405020304" pitchFamily="18" charset="0"/>
                <a:cs typeface="Times New Roman" panose="02020603050405020304" pitchFamily="18" charset="0"/>
              </a:rPr>
              <a:t>Presented by:</a:t>
            </a:r>
            <a:endParaRPr lang="en-US" b="1" u="sng" dirty="0">
              <a:latin typeface="Times New Roman" panose="02020603050405020304" pitchFamily="18" charset="0"/>
              <a:cs typeface="Times New Roman" panose="02020603050405020304" pitchFamily="18" charset="0"/>
            </a:endParaRPr>
          </a:p>
          <a:p>
            <a:pPr marL="0" indent="0" algn="ctr">
              <a:buNone/>
            </a:pPr>
            <a:endParaRPr lang="en-US" b="1" u="sng" dirty="0">
              <a:latin typeface="Times New Roman" panose="02020603050405020304" pitchFamily="18" charset="0"/>
              <a:cs typeface="Times New Roman" panose="02020603050405020304" pitchFamily="18" charset="0"/>
            </a:endParaRPr>
          </a:p>
          <a:p>
            <a:pPr marL="0" indent="0" algn="ctr">
              <a:buNone/>
            </a:pPr>
            <a:r>
              <a:rPr lang="en-IN" altLang="en-US" dirty="0" err="1">
                <a:latin typeface="Times New Roman" panose="02020603050405020304" pitchFamily="18" charset="0"/>
                <a:cs typeface="Times New Roman" panose="02020603050405020304" pitchFamily="18" charset="0"/>
              </a:rPr>
              <a:t>Pathlavath</a:t>
            </a:r>
            <a:r>
              <a:rPr lang="en-IN" altLang="en-US" dirty="0">
                <a:latin typeface="Times New Roman" panose="02020603050405020304" pitchFamily="18" charset="0"/>
                <a:cs typeface="Times New Roman" panose="02020603050405020304" pitchFamily="18" charset="0"/>
              </a:rPr>
              <a:t> Divya</a:t>
            </a:r>
            <a:r>
              <a:rPr lang="en-US" dirty="0">
                <a:latin typeface="Times New Roman" panose="02020603050405020304" pitchFamily="18" charset="0"/>
                <a:cs typeface="Times New Roman" panose="02020603050405020304" pitchFamily="18" charset="0"/>
              </a:rPr>
              <a:t>                      245621733047</a:t>
            </a:r>
            <a:endParaRPr lang="en-US" dirty="0">
              <a:latin typeface="Times New Roman" panose="02020603050405020304" pitchFamily="18" charset="0"/>
              <a:cs typeface="Times New Roman" panose="02020603050405020304" pitchFamily="18" charset="0"/>
            </a:endParaRPr>
          </a:p>
          <a:p>
            <a:pPr marL="0" indent="0" algn="ctr">
              <a:buNone/>
            </a:pPr>
            <a:r>
              <a:rPr lang="en-IN" altLang="en-US" dirty="0">
                <a:latin typeface="Times New Roman" panose="02020603050405020304" pitchFamily="18" charset="0"/>
                <a:cs typeface="Times New Roman" panose="02020603050405020304" pitchFamily="18" charset="0"/>
              </a:rPr>
              <a:t>Gundupalli Thanusha</a:t>
            </a:r>
            <a:r>
              <a:rPr lang="en-US" dirty="0">
                <a:latin typeface="Times New Roman" panose="02020603050405020304" pitchFamily="18" charset="0"/>
                <a:cs typeface="Times New Roman" panose="02020603050405020304" pitchFamily="18" charset="0"/>
              </a:rPr>
              <a:t>                245621733020</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IN" altLang="en-US" dirty="0">
                <a:latin typeface="Times New Roman" panose="02020603050405020304" pitchFamily="18" charset="0"/>
                <a:cs typeface="Times New Roman" panose="02020603050405020304" pitchFamily="18" charset="0"/>
              </a:rPr>
              <a:t>Gadiraju Sravya Santhoshi</a:t>
            </a:r>
            <a:r>
              <a:rPr lang="en-US" dirty="0">
                <a:latin typeface="Times New Roman" panose="02020603050405020304" pitchFamily="18" charset="0"/>
                <a:cs typeface="Times New Roman" panose="02020603050405020304" pitchFamily="18" charset="0"/>
              </a:rPr>
              <a:t>        245621733016</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u="sng" dirty="0">
                <a:latin typeface="Times New Roman" panose="02020603050405020304" pitchFamily="18" charset="0"/>
                <a:cs typeface="Times New Roman" panose="02020603050405020304" pitchFamily="18" charset="0"/>
              </a:rPr>
              <a:t>Name of the Guide</a:t>
            </a:r>
            <a:r>
              <a:rPr lang="en-US" dirty="0">
                <a:latin typeface="Times New Roman" panose="02020603050405020304" pitchFamily="18" charset="0"/>
                <a:cs typeface="Times New Roman" panose="02020603050405020304" pitchFamily="18" charset="0"/>
              </a:rPr>
              <a:t>: </a:t>
            </a:r>
            <a:r>
              <a:rPr lang="en-IN" altLang="en-US" dirty="0">
                <a:latin typeface="Times New Roman" panose="02020603050405020304" pitchFamily="18" charset="0"/>
                <a:cs typeface="Times New Roman" panose="02020603050405020304" pitchFamily="18" charset="0"/>
              </a:rPr>
              <a:t>Mrs. N. Meghana</a:t>
            </a:r>
            <a:endParaRPr lang="en-IN" dirty="0">
              <a:latin typeface="Times New Roman" panose="02020603050405020304" pitchFamily="18" charset="0"/>
              <a:cs typeface="Times New Roman" panose="02020603050405020304" pitchFamily="18" charset="0"/>
            </a:endParaRPr>
          </a:p>
        </p:txBody>
      </p:sp>
      <p:pic>
        <p:nvPicPr>
          <p:cNvPr id="4" name="Image 1"/>
          <p:cNvPicPr/>
          <p:nvPr/>
        </p:nvPicPr>
        <p:blipFill>
          <a:blip r:embed="rId1" cstate="print"/>
          <a:stretch>
            <a:fillRect/>
          </a:stretch>
        </p:blipFill>
        <p:spPr>
          <a:xfrm>
            <a:off x="238433" y="110717"/>
            <a:ext cx="1389529" cy="149710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5640" y="342406"/>
            <a:ext cx="10515600" cy="697268"/>
          </a:xfrm>
        </p:spPr>
        <p:txBody>
          <a:bodyPr/>
          <a:lstStyle/>
          <a:p>
            <a:pPr algn="ctr"/>
            <a:r>
              <a:rPr lang="en-US"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199" y="1443317"/>
            <a:ext cx="11161059" cy="5307789"/>
          </a:xfrm>
        </p:spPr>
        <p:txBody>
          <a:bodyPr>
            <a:noAutofit/>
          </a:bodyPr>
          <a:lstStyle/>
          <a:p>
            <a:pPr marL="0" indent="0" algn="just">
              <a:lnSpc>
                <a:spcPct val="150000"/>
              </a:lnSpc>
              <a:buNone/>
            </a:pPr>
            <a:r>
              <a:rPr lang="en-IN" sz="1800" dirty="0">
                <a:latin typeface="Times New Roman" panose="02020603050405020304" pitchFamily="18" charset="0"/>
                <a:ea typeface="Calibri" panose="020F0502020204030204" pitchFamily="34" charset="0"/>
                <a:cs typeface="Times New Roman" panose="02020603050405020304" pitchFamily="18" charset="0"/>
              </a:rPr>
              <a:t>The increasing amount of counterfeit currency creates a strong economic threat and requires reliable detection methods. Fraud cash detection systems make use of advanced image processing techniques and machine learning algorithms to identify genuine currency notes from counterfeit ones. This paper presents an effective framework that incorporates image acquisition, preprocessing steps such as </a:t>
            </a:r>
            <a:r>
              <a:rPr lang="en-IN" sz="1800" dirty="0" err="1">
                <a:latin typeface="Times New Roman" panose="02020603050405020304" pitchFamily="18" charset="0"/>
                <a:ea typeface="Calibri" panose="020F0502020204030204" pitchFamily="34" charset="0"/>
                <a:cs typeface="Times New Roman" panose="02020603050405020304" pitchFamily="18" charset="0"/>
              </a:rPr>
              <a:t>gray</a:t>
            </a:r>
            <a:r>
              <a:rPr lang="en-IN" sz="1800" dirty="0">
                <a:latin typeface="Times New Roman" panose="02020603050405020304" pitchFamily="18" charset="0"/>
                <a:ea typeface="Calibri" panose="020F0502020204030204" pitchFamily="34" charset="0"/>
                <a:cs typeface="Times New Roman" panose="02020603050405020304" pitchFamily="18" charset="0"/>
              </a:rPr>
              <a:t> scale conversion, edge detection, feature extraction, and segmentation with robust classification models. The currency notes are </a:t>
            </a:r>
            <a:r>
              <a:rPr lang="en-IN" sz="1800" dirty="0" err="1">
                <a:latin typeface="Times New Roman" panose="02020603050405020304" pitchFamily="18" charset="0"/>
                <a:ea typeface="Calibri" panose="020F0502020204030204" pitchFamily="34" charset="0"/>
                <a:cs typeface="Times New Roman" panose="02020603050405020304" pitchFamily="18" charset="0"/>
              </a:rPr>
              <a:t>analyzed</a:t>
            </a:r>
            <a:r>
              <a:rPr lang="en-IN" sz="1800" dirty="0">
                <a:latin typeface="Times New Roman" panose="02020603050405020304" pitchFamily="18" charset="0"/>
                <a:ea typeface="Calibri" panose="020F0502020204030204" pitchFamily="34" charset="0"/>
                <a:cs typeface="Times New Roman" panose="02020603050405020304" pitchFamily="18" charset="0"/>
              </a:rPr>
              <a:t> for key features under various conditions, including ultraviolet light, to enhance the accuracy of detection. Machine learning algorithms, such as Naïve Bayes, Support Vector Classifiers (SVC), Gradient Descent, and Neural Networks, are trained on the extracted features to classify currency as authentic or counterfeit. This integrated approach ensures high precision and reliability in fraud cash detection, addressing the growing threat of fake currency circulation. The results show the possibility of using computational image processing together with intelligent classification models in developing reliable and scalable fraud prevention solutions.</a:t>
            </a:r>
            <a:endParaRPr lang="en-IN" sz="1800" dirty="0">
              <a:latin typeface="Times New Roman" panose="02020603050405020304" pitchFamily="18" charset="0"/>
              <a:cs typeface="Times New Roman" panose="02020603050405020304" pitchFamily="18" charset="0"/>
            </a:endParaRPr>
          </a:p>
          <a:p>
            <a:pPr marL="0" indent="0" algn="just">
              <a:buNone/>
            </a:pPr>
            <a:endParaRPr lang="en-US" sz="1900" dirty="0">
              <a:latin typeface="Times New Roman" panose="02020603050405020304" pitchFamily="18" charset="0"/>
              <a:cs typeface="Times New Roman" panose="02020603050405020304" pitchFamily="18" charset="0"/>
            </a:endParaRPr>
          </a:p>
        </p:txBody>
      </p:sp>
      <p:pic>
        <p:nvPicPr>
          <p:cNvPr id="4" name="Image 1"/>
          <p:cNvPicPr/>
          <p:nvPr/>
        </p:nvPicPr>
        <p:blipFill>
          <a:blip r:embed="rId1" cstate="print"/>
          <a:srcRect t="11855"/>
          <a:stretch>
            <a:fillRect/>
          </a:stretch>
        </p:blipFill>
        <p:spPr>
          <a:xfrm>
            <a:off x="288793" y="202539"/>
            <a:ext cx="1093693" cy="9770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Problem Statement</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algn="just">
              <a:lnSpc>
                <a:spcPct val="150000"/>
              </a:lnSpc>
            </a:pPr>
            <a:r>
              <a:rPr lang="en-US" sz="2400" dirty="0">
                <a:latin typeface="Times New Roman" panose="02020603050405020304" pitchFamily="18" charset="0"/>
                <a:cs typeface="Times New Roman" panose="02020603050405020304" pitchFamily="18" charset="0"/>
              </a:rPr>
              <a:t>Counterfeit currency circulation poses a significant threat to the economy by reducing the value of genuine currency and facilitating illegal activities. Manual detection methods are time-consuming, prone to human error, and not always reliable, especially when fake notes are made with high precision. There is a need for an automated, efficient, and accurate system that can detect counterfeit currency using advanced technologies. This project aims to develop a system that utilizes image</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processing and machine</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learning techniques to automatically detect fraudulent currency notes by analyzing their visual features and patterns.</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pic>
        <p:nvPicPr>
          <p:cNvPr id="4" name="Image 1"/>
          <p:cNvPicPr/>
          <p:nvPr/>
        </p:nvPicPr>
        <p:blipFill>
          <a:blip r:embed="rId1" cstate="print"/>
          <a:srcRect t="11855"/>
          <a:stretch>
            <a:fillRect/>
          </a:stretch>
        </p:blipFill>
        <p:spPr>
          <a:xfrm>
            <a:off x="148352" y="182282"/>
            <a:ext cx="1084730" cy="9975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68805" y="151035"/>
            <a:ext cx="4854389" cy="814348"/>
          </a:xfrm>
        </p:spPr>
        <p:txBody>
          <a:bodyPr>
            <a:normAutofit/>
          </a:bodyPr>
          <a:lstStyle/>
          <a:p>
            <a:pPr algn="ctr"/>
            <a:r>
              <a:rPr lang="en-IN" b="1" dirty="0">
                <a:latin typeface="Times New Roman" panose="02020603050405020304" pitchFamily="18" charset="0"/>
                <a:cs typeface="Times New Roman" panose="02020603050405020304" pitchFamily="18" charset="0"/>
              </a:rPr>
              <a:t>Literature Review</a:t>
            </a:r>
            <a:endParaRPr lang="en-IN" b="1" dirty="0">
              <a:latin typeface="Times New Roman" panose="02020603050405020304" pitchFamily="18" charset="0"/>
              <a:cs typeface="Times New Roman" panose="02020603050405020304" pitchFamily="18" charset="0"/>
            </a:endParaRPr>
          </a:p>
        </p:txBody>
      </p:sp>
      <p:pic>
        <p:nvPicPr>
          <p:cNvPr id="4" name="Image 1"/>
          <p:cNvPicPr/>
          <p:nvPr/>
        </p:nvPicPr>
        <p:blipFill>
          <a:blip r:embed="rId1" cstate="print"/>
          <a:srcRect t="11855"/>
          <a:stretch>
            <a:fillRect/>
          </a:stretch>
        </p:blipFill>
        <p:spPr>
          <a:xfrm>
            <a:off x="609600" y="93279"/>
            <a:ext cx="833718" cy="814348"/>
          </a:xfrm>
          <a:prstGeom prst="rect">
            <a:avLst/>
          </a:prstGeom>
        </p:spPr>
      </p:pic>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2452" y="1107870"/>
            <a:ext cx="11277600" cy="5361756"/>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612" y="337293"/>
            <a:ext cx="10518776" cy="672062"/>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Requirements</a:t>
            </a:r>
            <a:endParaRPr lang="en-IN"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331694" y="1322574"/>
            <a:ext cx="3771199" cy="368114"/>
          </a:xfrm>
        </p:spPr>
        <p:txBody>
          <a:bodyPr>
            <a:normAutofit/>
          </a:bodyPr>
          <a:lstStyle/>
          <a:p>
            <a:r>
              <a:rPr lang="en-US" sz="2000" u="sng" dirty="0">
                <a:latin typeface="Times New Roman" panose="02020603050405020304" pitchFamily="18" charset="0"/>
                <a:cs typeface="Times New Roman" panose="02020603050405020304" pitchFamily="18" charset="0"/>
              </a:rPr>
              <a:t>SOFTWARE REQUIREMENTS</a:t>
            </a:r>
            <a:endParaRPr lang="en-IN" sz="2000" u="sng"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half" idx="2"/>
          </p:nvPr>
        </p:nvSpPr>
        <p:spPr>
          <a:xfrm>
            <a:off x="331694" y="1690688"/>
            <a:ext cx="5573106" cy="5039575"/>
          </a:xfrm>
        </p:spPr>
        <p:txBody>
          <a:bodyPr>
            <a:normAutofit/>
          </a:bodyPr>
          <a:lstStyle/>
          <a:p>
            <a:pPr marL="342900" lvl="0" indent="-342900" algn="just">
              <a:lnSpc>
                <a:spcPct val="150000"/>
              </a:lnSpc>
              <a:tabLst>
                <a:tab pos="457200" algn="l"/>
              </a:tabLst>
            </a:pP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Operating System: Windows, macOS, or Linux (Ubuntu recommended)</a:t>
            </a:r>
            <a:endPar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tabLst>
                <a:tab pos="457200" algn="l"/>
              </a:tabLst>
            </a:pP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Programming Languages: Python</a:t>
            </a:r>
            <a:endPar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tabLst>
                <a:tab pos="457200" algn="l"/>
              </a:tabLst>
            </a:pP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Machine Learning Frameworks: TensorFlow</a:t>
            </a:r>
            <a:endPar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tabLst>
                <a:tab pos="457200" algn="l"/>
              </a:tabLst>
            </a:pP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Image Processing</a:t>
            </a:r>
            <a:r>
              <a:rPr lang="en-IN"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algorithms </a:t>
            </a:r>
            <a:endPar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tabLst>
                <a:tab pos="457200" algn="l"/>
              </a:tabLst>
            </a:pP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Development Tools: </a:t>
            </a:r>
            <a:r>
              <a:rPr lang="en-IN"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Google </a:t>
            </a:r>
            <a:r>
              <a:rPr lang="en-IN" sz="18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colab</a:t>
            </a:r>
            <a:endPar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tabLst>
                <a:tab pos="457200" algn="l"/>
              </a:tabLst>
            </a:pP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Libraries: NumPy, OpenCV, Pandas, Matplotlib, Scikit-learn</a:t>
            </a:r>
            <a:endPar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ext Placeholder 4"/>
          <p:cNvSpPr>
            <a:spLocks noGrp="1"/>
          </p:cNvSpPr>
          <p:nvPr>
            <p:ph type="body" sz="quarter" idx="3"/>
          </p:nvPr>
        </p:nvSpPr>
        <p:spPr>
          <a:xfrm>
            <a:off x="6172200" y="1322574"/>
            <a:ext cx="5183188" cy="368114"/>
          </a:xfrm>
        </p:spPr>
        <p:txBody>
          <a:bodyPr>
            <a:normAutofit/>
          </a:bodyPr>
          <a:lstStyle/>
          <a:p>
            <a:r>
              <a:rPr lang="en-US" sz="2000" u="sng" dirty="0">
                <a:latin typeface="Times New Roman" panose="02020603050405020304" pitchFamily="18" charset="0"/>
                <a:cs typeface="Times New Roman" panose="02020603050405020304" pitchFamily="18" charset="0"/>
              </a:rPr>
              <a:t>HARDWARE REQUIREMENTS</a:t>
            </a:r>
            <a:endParaRPr lang="en-IN" sz="2000" u="sng"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sz="quarter" idx="4"/>
          </p:nvPr>
        </p:nvSpPr>
        <p:spPr>
          <a:xfrm>
            <a:off x="6172200" y="1690688"/>
            <a:ext cx="5183188" cy="5039575"/>
          </a:xfrm>
        </p:spPr>
        <p:txBody>
          <a:bodyPr>
            <a:normAutofit/>
          </a:bodyPr>
          <a:lstStyle/>
          <a:p>
            <a:pPr marL="342900" lvl="0" indent="-342900" algn="just">
              <a:lnSpc>
                <a:spcPct val="150000"/>
              </a:lnSpc>
              <a:tabLst>
                <a:tab pos="457200" algn="l"/>
              </a:tabLst>
            </a:pPr>
            <a:r>
              <a:rPr lang="en-IN" sz="1800" dirty="0">
                <a:solidFill>
                  <a:srgbClr val="000000"/>
                </a:solidFill>
                <a:effectLst/>
                <a:latin typeface="Times New Roman" panose="02020603050405020304" pitchFamily="18" charset="0"/>
                <a:ea typeface="Calibri" panose="020F0502020204030204" pitchFamily="34" charset="0"/>
              </a:rPr>
              <a:t>CPU: Intel Core i3/i5 or equivalent (multi-core recommended)</a:t>
            </a:r>
            <a:endParaRPr lang="en-IN" sz="1800" dirty="0">
              <a:solidFill>
                <a:srgbClr val="000000"/>
              </a:solidFill>
              <a:effectLst/>
              <a:latin typeface="Times New Roman" panose="02020603050405020304" pitchFamily="18" charset="0"/>
              <a:ea typeface="Calibri" panose="020F0502020204030204" pitchFamily="34" charset="0"/>
            </a:endParaRPr>
          </a:p>
          <a:p>
            <a:pPr marL="342900" lvl="0" indent="-342900" algn="just">
              <a:lnSpc>
                <a:spcPct val="150000"/>
              </a:lnSpc>
              <a:tabLst>
                <a:tab pos="457200" algn="l"/>
              </a:tabLst>
            </a:pPr>
            <a:r>
              <a:rPr lang="en-IN" sz="1800" dirty="0">
                <a:solidFill>
                  <a:srgbClr val="000000"/>
                </a:solidFill>
                <a:effectLst/>
                <a:latin typeface="Times New Roman" panose="02020603050405020304" pitchFamily="18" charset="0"/>
                <a:ea typeface="Calibri" panose="020F0502020204030204" pitchFamily="34" charset="0"/>
              </a:rPr>
              <a:t>RAM: Minimum 8 GB (16 GB recommended for smooth deep learning model training)</a:t>
            </a:r>
            <a:endParaRPr lang="en-IN" sz="1800" dirty="0">
              <a:solidFill>
                <a:srgbClr val="000000"/>
              </a:solidFill>
              <a:effectLst/>
              <a:latin typeface="Times New Roman" panose="02020603050405020304" pitchFamily="18" charset="0"/>
              <a:ea typeface="Calibri" panose="020F0502020204030204" pitchFamily="34" charset="0"/>
            </a:endParaRPr>
          </a:p>
          <a:p>
            <a:pPr marL="342900" lvl="0" indent="-342900" algn="just">
              <a:lnSpc>
                <a:spcPct val="150000"/>
              </a:lnSpc>
              <a:tabLst>
                <a:tab pos="457200" algn="l"/>
              </a:tabLst>
            </a:pPr>
            <a:r>
              <a:rPr lang="en-IN" sz="1800" dirty="0">
                <a:solidFill>
                  <a:srgbClr val="000000"/>
                </a:solidFill>
                <a:effectLst/>
                <a:latin typeface="Times New Roman" panose="02020603050405020304" pitchFamily="18" charset="0"/>
                <a:ea typeface="Calibri" panose="020F0502020204030204" pitchFamily="34" charset="0"/>
              </a:rPr>
              <a:t>Storage: Solid-state drives (SSDs) with at least 50 GB of free space</a:t>
            </a:r>
            <a:endParaRPr lang="en-IN" sz="1800" dirty="0">
              <a:solidFill>
                <a:srgbClr val="000000"/>
              </a:solidFill>
              <a:effectLst/>
              <a:latin typeface="Times New Roman" panose="02020603050405020304" pitchFamily="18" charset="0"/>
              <a:ea typeface="Calibri" panose="020F0502020204030204" pitchFamily="34" charset="0"/>
            </a:endParaRPr>
          </a:p>
        </p:txBody>
      </p:sp>
      <p:pic>
        <p:nvPicPr>
          <p:cNvPr id="8" name="Image 1"/>
          <p:cNvPicPr/>
          <p:nvPr/>
        </p:nvPicPr>
        <p:blipFill>
          <a:blip r:embed="rId1" cstate="print"/>
          <a:srcRect t="11855"/>
          <a:stretch>
            <a:fillRect/>
          </a:stretch>
        </p:blipFill>
        <p:spPr>
          <a:xfrm>
            <a:off x="585601" y="128709"/>
            <a:ext cx="983224" cy="88064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Methodology</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project starts with collecting images of real and fake currency notes. These images are preprocessed by converting them to grayscale, resizing, and removing noise. Important features like texture, color patterns, and edges are extracted from the images. A machine learning model such as KNN is then trained using these features to classify notes as real or fake. The model is tested for accuracy and performance. Optionally, a simple user interface can be developed to allow users to upload a currency note image and get instant detection results.</a:t>
            </a:r>
            <a:endParaRPr lang="en-IN" sz="2400" dirty="0">
              <a:latin typeface="Times New Roman" panose="02020603050405020304" pitchFamily="18" charset="0"/>
              <a:cs typeface="Times New Roman" panose="02020603050405020304" pitchFamily="18" charset="0"/>
            </a:endParaRPr>
          </a:p>
        </p:txBody>
      </p:sp>
      <p:pic>
        <p:nvPicPr>
          <p:cNvPr id="4" name="Image 1"/>
          <p:cNvPicPr/>
          <p:nvPr/>
        </p:nvPicPr>
        <p:blipFill>
          <a:blip r:embed="rId1" cstate="print"/>
          <a:srcRect t="11855"/>
          <a:stretch>
            <a:fillRect/>
          </a:stretch>
        </p:blipFill>
        <p:spPr>
          <a:xfrm>
            <a:off x="676198" y="365125"/>
            <a:ext cx="1045026" cy="91682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99495" y="0"/>
            <a:ext cx="6793007" cy="582706"/>
          </a:xfrm>
        </p:spPr>
        <p:txBody>
          <a:bodyPr>
            <a:noAutofit/>
          </a:bodyPr>
          <a:lstStyle/>
          <a:p>
            <a:pPr algn="ctr"/>
            <a:r>
              <a:rPr lang="en-IN" sz="4000" b="1" dirty="0">
                <a:latin typeface="Times New Roman" panose="02020603050405020304" pitchFamily="18" charset="0"/>
                <a:cs typeface="Times New Roman" panose="02020603050405020304" pitchFamily="18" charset="0"/>
              </a:rPr>
              <a:t>System Architecture </a:t>
            </a:r>
            <a:endParaRPr lang="en-IN" sz="3200" b="1" dirty="0">
              <a:latin typeface="Times New Roman" panose="02020603050405020304" pitchFamily="18" charset="0"/>
              <a:cs typeface="Times New Roman" panose="02020603050405020304" pitchFamily="18" charset="0"/>
            </a:endParaRPr>
          </a:p>
        </p:txBody>
      </p:sp>
      <p:pic>
        <p:nvPicPr>
          <p:cNvPr id="4" name="Image 1"/>
          <p:cNvPicPr/>
          <p:nvPr/>
        </p:nvPicPr>
        <p:blipFill>
          <a:blip r:embed="rId1" cstate="print"/>
          <a:srcRect t="11855"/>
          <a:stretch>
            <a:fillRect/>
          </a:stretch>
        </p:blipFill>
        <p:spPr>
          <a:xfrm>
            <a:off x="660724" y="117776"/>
            <a:ext cx="991238" cy="929860"/>
          </a:xfrm>
          <a:prstGeom prst="rect">
            <a:avLst/>
          </a:prstGeom>
        </p:spPr>
      </p:pic>
      <p:pic>
        <p:nvPicPr>
          <p:cNvPr id="6" name="Content Placeholder 5" descr="Screenshot 2025-01-30 132423"/>
          <p:cNvPicPr>
            <a:picLocks noGrp="1" noChangeAspect="1"/>
          </p:cNvPicPr>
          <p:nvPr>
            <p:ph idx="1"/>
          </p:nvPr>
        </p:nvPicPr>
        <p:blipFill rotWithShape="1">
          <a:blip r:embed="rId2"/>
          <a:srcRect l="1" t="1505" r="-599"/>
          <a:stretch>
            <a:fillRect/>
          </a:stretch>
        </p:blipFill>
        <p:spPr bwMode="auto">
          <a:xfrm>
            <a:off x="3408496" y="817277"/>
            <a:ext cx="5578188" cy="6040723"/>
          </a:xfrm>
          <a:prstGeom prst="rect">
            <a:avLst/>
          </a:prstGeom>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Results</a:t>
            </a:r>
            <a:endParaRPr lang="en-IN" b="1" dirty="0">
              <a:latin typeface="Times New Roman" panose="02020603050405020304" pitchFamily="18" charset="0"/>
              <a:cs typeface="Times New Roman" panose="02020603050405020304" pitchFamily="18" charset="0"/>
            </a:endParaRPr>
          </a:p>
        </p:txBody>
      </p:sp>
      <p:pic>
        <p:nvPicPr>
          <p:cNvPr id="5" name="Image 1"/>
          <p:cNvPicPr/>
          <p:nvPr/>
        </p:nvPicPr>
        <p:blipFill>
          <a:blip r:embed="rId1" cstate="print"/>
          <a:srcRect t="11855"/>
          <a:stretch>
            <a:fillRect/>
          </a:stretch>
        </p:blipFill>
        <p:spPr>
          <a:xfrm>
            <a:off x="184585" y="197976"/>
            <a:ext cx="1045026" cy="916828"/>
          </a:xfrm>
          <a:prstGeom prst="rect">
            <a:avLst/>
          </a:prstGeom>
        </p:spPr>
      </p:pic>
      <p:pic>
        <p:nvPicPr>
          <p:cNvPr id="3"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3081" y="1354445"/>
            <a:ext cx="5003097" cy="4013968"/>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1354444"/>
            <a:ext cx="5356394" cy="4013967"/>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28079" y="5608052"/>
            <a:ext cx="4927500" cy="6550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Conclusion </a:t>
            </a:r>
            <a:endParaRPr lang="en-IN" b="1"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838200" y="1281953"/>
            <a:ext cx="10842523" cy="5565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lgn="just">
              <a:lnSpc>
                <a:spcPct val="150000"/>
              </a:lnSpc>
              <a:buNone/>
            </a:pPr>
            <a:r>
              <a:rPr lang="en-IN" sz="2400" dirty="0">
                <a:latin typeface="Times New Roman" panose="02020603050405020304" pitchFamily="18" charset="0"/>
                <a:cs typeface="Times New Roman" panose="02020603050405020304" pitchFamily="18" charset="0"/>
              </a:rPr>
              <a:t>This project demonstrates the potential applicability of computer vision and machine learning to detect the counterfeit currency notes in a fast and efficient way. Computer vision has distinctive property in the ability to visualize, and train a model through classification based on the existence of differing technologies such as OpenCV which enables preprocessing of the images, and TensorFlow or Scikit-learn which enables training of the models. Our project will determine the currency images to be either real or fake based on indicating meaningful visual features of currency images. The project has advanced on ancient, manual methods of detection as well as developed a remedy that will be used in financially checking in an automated, scalable, and more trust-worthy manner. </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Image 1"/>
          <p:cNvPicPr/>
          <p:nvPr/>
        </p:nvPicPr>
        <p:blipFill>
          <a:blip r:embed="rId1" cstate="print"/>
          <a:srcRect t="11855"/>
          <a:stretch>
            <a:fillRect/>
          </a:stretch>
        </p:blipFill>
        <p:spPr>
          <a:xfrm>
            <a:off x="184585" y="197976"/>
            <a:ext cx="1045026" cy="91682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1310"/>
            <a:ext cx="10515600" cy="819454"/>
          </a:xfrm>
        </p:spPr>
        <p:txBody>
          <a:bodyPr/>
          <a:lstStyle/>
          <a:p>
            <a:pPr algn="ctr"/>
            <a:r>
              <a:rPr lang="en-US" b="1" dirty="0">
                <a:latin typeface="Times New Roman" panose="02020603050405020304" pitchFamily="18" charset="0"/>
                <a:cs typeface="Times New Roman" panose="02020603050405020304" pitchFamily="18" charset="0"/>
              </a:rPr>
              <a:t>References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2400" y="1418466"/>
            <a:ext cx="11887199" cy="5168224"/>
          </a:xfrm>
        </p:spPr>
        <p:txBody>
          <a:bodyPr>
            <a:normAutofit fontScale="85000" lnSpcReduction="20000"/>
          </a:bodyPr>
          <a:lstStyle/>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Bhatia, A., Kedia, V., Shroff, A., Kumar, M. and Shah, B.K., 2021, May. Fake currency detection with machine learning algorithm and image processing. In 2021 5th international conference on intelligent computing and control systems (ICICCS) (pp. 755-760). IEEE.</a:t>
            </a:r>
            <a:endParaRPr lang="en-US" sz="24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endParaRPr lang="en-US" sz="24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Agasti, T., Burand, G., Wade, P. and Chitra, P., 2017, November. Fake currency detection using image processing. In IOP Conference Series: Materials Science and Engineering (Vol. 263, No. 5, p. 052047). IOP Publishing. </a:t>
            </a:r>
            <a:endParaRPr lang="en-US" sz="24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endParaRPr lang="en-US" sz="24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IN" sz="2400" dirty="0">
                <a:latin typeface="Times New Roman" panose="02020603050405020304" pitchFamily="18" charset="0"/>
                <a:cs typeface="Times New Roman" panose="02020603050405020304" pitchFamily="18" charset="0"/>
              </a:rPr>
              <a:t>Yadav, R.K., Valecha, P. and Paliwal, S., 2021. Counterfeit currency detection using supervised machine learning algorithms. In Machine Learning for Predictive Analysis: Proceedings of ICTIS 2020 (pp. 173-178). Springer Singapore.</a:t>
            </a:r>
            <a:endParaRPr lang="en-IN" sz="24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endParaRPr lang="en-IN" sz="24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Deepak, M.P. and Prajwala, N.B., 2018, April. Identification of fake notes and denomination recognition. In 2018 International Conference on Communication and Signal Processing (ICCSP) (pp. 0238-0243). IEEE. </a:t>
            </a:r>
            <a:endParaRPr lang="en-US" sz="24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endParaRPr lang="en-US" sz="24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Qazi, E.U.H., Zia, T. and Almorjan, A., 2022. Deep learning-based digital image forgery detection system. Applied Sciences, 12(6), p.2851.</a:t>
            </a:r>
            <a:endParaRPr lang="en-IN" sz="3600"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IN" sz="2100" dirty="0">
              <a:latin typeface="Times New Roman" panose="02020603050405020304" pitchFamily="18" charset="0"/>
              <a:cs typeface="Times New Roman" panose="02020603050405020304" pitchFamily="18" charset="0"/>
            </a:endParaRPr>
          </a:p>
        </p:txBody>
      </p:sp>
      <p:pic>
        <p:nvPicPr>
          <p:cNvPr id="4" name="Image 1"/>
          <p:cNvPicPr/>
          <p:nvPr/>
        </p:nvPicPr>
        <p:blipFill>
          <a:blip r:embed="rId1" cstate="print"/>
          <a:srcRect t="11855"/>
          <a:stretch>
            <a:fillRect/>
          </a:stretch>
        </p:blipFill>
        <p:spPr>
          <a:xfrm>
            <a:off x="623047" y="151500"/>
            <a:ext cx="1178858" cy="105907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5083</Words>
  <Application>WPS Presentation</Application>
  <PresentationFormat>Widescreen</PresentationFormat>
  <Paragraphs>64</Paragraphs>
  <Slides>10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10</vt:i4>
      </vt:variant>
    </vt:vector>
  </HeadingPairs>
  <TitlesOfParts>
    <vt:vector size="19" baseType="lpstr">
      <vt:lpstr>Arial</vt:lpstr>
      <vt:lpstr>SimSun</vt:lpstr>
      <vt:lpstr>Wingdings</vt:lpstr>
      <vt:lpstr>Times New Roman</vt:lpstr>
      <vt:lpstr>Calibri</vt:lpstr>
      <vt:lpstr>Microsoft YaHei</vt:lpstr>
      <vt:lpstr>Arial Unicode MS</vt:lpstr>
      <vt:lpstr>Calibri Light</vt:lpstr>
      <vt:lpstr>Office Theme</vt:lpstr>
      <vt:lpstr>Fake Cash Detection using Image Processing</vt:lpstr>
      <vt:lpstr>Abstract</vt:lpstr>
      <vt:lpstr>Problem Statement</vt:lpstr>
      <vt:lpstr>Literature Review</vt:lpstr>
      <vt:lpstr>Requirements</vt:lpstr>
      <vt:lpstr>Methodology</vt:lpstr>
      <vt:lpstr>System Architecture </vt:lpstr>
      <vt:lpstr>Results</vt:lpstr>
      <vt:lpstr>Conclusion </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GLWEC</dc:creator>
  <cp:lastModifiedBy>Divya Pathlavath</cp:lastModifiedBy>
  <cp:revision>26</cp:revision>
  <dcterms:created xsi:type="dcterms:W3CDTF">2024-04-10T07:57:00Z</dcterms:created>
  <dcterms:modified xsi:type="dcterms:W3CDTF">2025-06-19T04:34:07Z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2C3C15D0C51B41849098282C7B11855D_12</vt:lpwstr>
  </property>
  <property fmtid="{D5CDD505-2E9C-101B-9397-08002B2CF9AE}" pid="3" name="KSOProductBuildVer">
    <vt:lpwstr>1033-12.2.0.21546</vt:lpwstr>
  </property>
</Properties>
</file>